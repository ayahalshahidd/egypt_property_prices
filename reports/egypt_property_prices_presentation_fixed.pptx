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6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Master" Target="slideMasters/slide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1051560"/>
            <a:ext cx="10789920" cy="1645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4200">
                <a:b/>
                <a:solidFill>
                  <a:srgbClr val="0F766E"/>
                </a:solidFill>
              </a:rPr>
              <a:t>Egypt Property Prices</a:t>
            </a:r>
            <a:endParaRPr lang="en-US" sz="4200"/>
          </a:p>
          <a:p>
            <a:r>
              <a:rPr lang="en-US" sz="2500">
                <a:solidFill>
                  <a:srgbClr val="374151"/>
                </a:solidFill>
              </a:rPr>
              <a:t>Spark-Based Predictive Pricing Pipeline</a:t>
            </a:r>
            <a:endParaRPr lang="en-US" sz="2500"/>
          </a:p>
        </p:txBody>
      </p:sp>
      <p:sp>
        <p:nvSpPr>
          <p:cNvPr id="3" name="TextBox 3"/>
          <p:cNvSpPr txBox="1"/>
          <p:nvPr/>
        </p:nvSpPr>
        <p:spPr>
          <a:xfrm>
            <a:off x="731520" y="2971800"/>
            <a:ext cx="52120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2300">
                <a:b/>
                <a:solidFill>
                  <a:srgbClr val="1F2937"/>
                </a:solidFill>
              </a:rPr>
              <a:t>Business Goal</a:t>
            </a:r>
            <a:endParaRPr lang="en-US" sz="23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Estimate fair price per square meter</a:t>
            </a:r>
            <a:endParaRPr lang="en-US" sz="19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Support buyers, investors, and agencies</a:t>
            </a:r>
            <a:endParaRPr lang="en-US" sz="19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Turn listing data into valuation insight</a:t>
            </a:r>
            <a:endParaRPr lang="en-US" sz="1900"/>
          </a:p>
        </p:txBody>
      </p:sp>
      <p:sp>
        <p:nvSpPr>
          <p:cNvPr id="4" name="TextBox 4"/>
          <p:cNvSpPr txBox="1"/>
          <p:nvPr/>
        </p:nvSpPr>
        <p:spPr>
          <a:xfrm>
            <a:off x="6263640" y="2971800"/>
            <a:ext cx="52120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2300">
                <a:b/>
                <a:solidFill>
                  <a:srgbClr val="1F2937"/>
                </a:solidFill>
              </a:rPr>
              <a:t>Technical Goal</a:t>
            </a:r>
            <a:endParaRPr lang="en-US" sz="23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End-to-end PySpark/Spark ML pipeline</a:t>
            </a:r>
            <a:endParaRPr lang="en-US" sz="19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Pseudo-distributed local-cluster execution</a:t>
            </a:r>
            <a:endParaRPr lang="en-US" sz="1900"/>
          </a:p>
          <a:p>
            <a:pPr marL="342900" indent="-171450">
              <a:buChar char="•"/>
            </a:pPr>
            <a:r>
              <a:rPr lang="en-US" sz="1900">
                <a:solidFill>
                  <a:srgbClr val="374151"/>
                </a:solidFill>
              </a:rPr>
              <a:t>Reusable code deliverable</a:t>
            </a:r>
            <a:endParaRPr lang="en-US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Business Problem</a:t>
            </a:r>
            <a:endParaRPr lang="en-US" sz="3400"/>
          </a:p>
          <a:p>
            <a:r>
              <a:rPr lang="en-US" sz="1700">
                <a:solidFill>
                  <a:srgbClr val="4B5563"/>
                </a:solidFill>
              </a:rPr>
              <a:t>Why this matters</a:t>
            </a:r>
            <a:endParaRPr lang="en-US" sz="1700"/>
          </a:p>
        </p:txBody>
      </p:sp>
      <p:sp>
        <p:nvSpPr>
          <p:cNvPr id="3" name="TextBox 3"/>
          <p:cNvSpPr txBox="1"/>
          <p:nvPr/>
        </p:nvSpPr>
        <p:spPr>
          <a:xfrm>
            <a:off x="731520" y="1508760"/>
            <a:ext cx="109728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300">
                <a:solidFill>
                  <a:srgbClr val="374151"/>
                </a:solidFill>
              </a:rPr>
              <a:t>Egyptian real-estate prices vary by location, size, type, amenities, and listing quality.</a:t>
            </a:r>
            <a:endParaRPr lang="en-US" sz="2300"/>
          </a:p>
          <a:p>
            <a:pPr marL="342900" indent="-171450">
              <a:buChar char="•"/>
            </a:pPr>
            <a:r>
              <a:rPr lang="en-US" sz="2300">
                <a:solidFill>
                  <a:srgbClr val="374151"/>
                </a:solidFill>
              </a:rPr>
              <a:t>Manual comparison is slow and inconsistent.</a:t>
            </a:r>
            <a:endParaRPr lang="en-US" sz="2300"/>
          </a:p>
          <a:p>
            <a:pPr marL="342900" indent="-171450">
              <a:buChar char="•"/>
            </a:pPr>
            <a:r>
              <a:rPr lang="en-US" sz="2300">
                <a:solidFill>
                  <a:srgbClr val="374151"/>
                </a:solidFill>
              </a:rPr>
              <a:t>A price-per-square-meter predictor flags underpriced, overpriced, and fairly priced listings.</a:t>
            </a:r>
            <a:endParaRPr lang="en-US" sz="2300"/>
          </a:p>
          <a:p>
            <a:pPr marL="342900" indent="-171450">
              <a:buChar char="•"/>
            </a:pPr>
            <a:r>
              <a:rPr lang="en-US" sz="2300">
                <a:solidFill>
                  <a:srgbClr val="374151"/>
                </a:solidFill>
              </a:rPr>
              <a:t>The result is a decision-support tool for business users.</a:t>
            </a:r>
            <a:endParaRPr lang="en-US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Business Users &amp; Value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417320"/>
            <a:ext cx="53949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2400">
                <a:b/>
                <a:solidFill>
                  <a:srgbClr val="1F2937"/>
                </a:solidFill>
              </a:rPr>
              <a:t>Primary Users</a:t>
            </a:r>
            <a:endParaRPr lang="en-US" sz="24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Property buyers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Real-estate agencies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Investors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Market analysts</a:t>
            </a:r>
            <a:endParaRPr lang="en-US" sz="2200"/>
          </a:p>
        </p:txBody>
      </p:sp>
      <p:sp>
        <p:nvSpPr>
          <p:cNvPr id="4" name="TextBox 4"/>
          <p:cNvSpPr txBox="1"/>
          <p:nvPr/>
        </p:nvSpPr>
        <p:spPr>
          <a:xfrm>
            <a:off x="6400800" y="1417320"/>
            <a:ext cx="512064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2400">
                <a:b/>
                <a:solidFill>
                  <a:srgbClr val="1F2937"/>
                </a:solidFill>
              </a:rPr>
              <a:t>Business Value</a:t>
            </a:r>
            <a:endParaRPr lang="en-US" sz="24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Objective price benchmark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Faster listing screening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Market transparency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Negotiation support</a:t>
            </a:r>
            <a:endParaRPr 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Big Data Compliance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10972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250">
                <a:solidFill>
                  <a:srgbClr val="374151"/>
                </a:solidFill>
              </a:rPr>
              <a:t>Framework: Apache Spark with Python/PySpark.</a:t>
            </a:r>
            <a:endParaRPr lang="en-US" sz="2250"/>
          </a:p>
          <a:p>
            <a:pPr marL="342900" indent="-171450">
              <a:buChar char="•"/>
            </a:pPr>
            <a:r>
              <a:rPr lang="en-US" sz="2250">
                <a:solidFill>
                  <a:srgbClr val="374151"/>
                </a:solidFill>
              </a:rPr>
              <a:t>Mode: pseudo-distributed local-cluster[2,2,2048].</a:t>
            </a:r>
            <a:endParaRPr lang="en-US" sz="2250"/>
          </a:p>
          <a:p>
            <a:pPr marL="342900" indent="-171450">
              <a:buChar char="•"/>
            </a:pPr>
            <a:r>
              <a:rPr lang="en-US" sz="2250">
                <a:solidFill>
                  <a:srgbClr val="374151"/>
                </a:solidFill>
              </a:rPr>
              <a:t>Pipeline: ingestion, preprocessing, features, training, tuning, evaluation, prediction.</a:t>
            </a:r>
            <a:endParaRPr lang="en-US" sz="2250"/>
          </a:p>
          <a:p>
            <a:pPr marL="342900" indent="-171450">
              <a:buChar char="•"/>
            </a:pPr>
            <a:r>
              <a:rPr lang="en-US" sz="2250">
                <a:solidFill>
                  <a:srgbClr val="374151"/>
                </a:solidFill>
              </a:rPr>
              <a:t>Dataset: propertyfinder.csv, about 69 MB and 39,713 initial listings.</a:t>
            </a:r>
            <a:endParaRPr lang="en-US" sz="2250"/>
          </a:p>
          <a:p>
            <a:pPr marL="342900" indent="-171450">
              <a:buChar char="•"/>
            </a:pPr>
            <a:r>
              <a:rPr lang="en-US" sz="2250">
                <a:solidFill>
                  <a:srgbClr val="374151"/>
                </a:solidFill>
              </a:rPr>
              <a:t>Fully distributed cluster deployment is future bonus work.</a:t>
            </a:r>
            <a:endParaRPr lang="en-US" sz="2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Spark Pipeline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548640" y="1280160"/>
            <a:ext cx="1115568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2500">
                <a:b/>
                <a:solidFill>
                  <a:srgbClr val="0F766E"/>
                </a:solidFill>
              </a:rPr>
              <a:t>Raw CSV → Spark cleaning → Spark features → VectorAssembler → Spark ML tuning → Evaluation → Reports &amp; predictions</a:t>
            </a:r>
            <a:endParaRPr lang="en-US" sz="250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Cleaning removes invalid rows and creates price_per_sqm.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Feature engineering adds location, size, amenity, and listing-quality signals.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Spark ML trains and evaluates regression models with distributed transformations.</a:t>
            </a:r>
            <a:endParaRPr lang="en-US" sz="2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Preprocessing Summary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2400">
                <a:b/>
                <a:solidFill>
                  <a:srgbClr val="1F2937"/>
                </a:solidFill>
              </a:rPr>
              <a:t>Cleaning Results</a:t>
            </a:r>
            <a:endParaRPr lang="en-US" sz="24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Initial rows: 39,713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Final cleaned rows: 19,316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Dropped columns: 24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Payment rows removed: 20,261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Outliers removed: 130</a:t>
            </a:r>
            <a:endParaRPr lang="en-US" sz="2100"/>
          </a:p>
        </p:txBody>
      </p:sp>
      <p:sp>
        <p:nvSpPr>
          <p:cNvPr id="4" name="TextBox 4"/>
          <p:cNvSpPr txBox="1"/>
          <p:nvPr/>
        </p:nvSpPr>
        <p:spPr>
          <a:xfrm>
            <a:off x="6400800" y="132588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2400">
                <a:b/>
                <a:solidFill>
                  <a:srgbClr val="1F2937"/>
                </a:solidFill>
              </a:rPr>
              <a:t>Main Steps</a:t>
            </a:r>
            <a:endParaRPr lang="en-US" sz="24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Parse numeric columns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Impute bedrooms/bathrooms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Standardize payment methods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Remove critical nulls</a:t>
            </a:r>
            <a:endParaRPr lang="en-US" sz="2100"/>
          </a:p>
          <a:p>
            <a:pPr marL="342900" indent="-171450">
              <a:buChar char="•"/>
            </a:pPr>
            <a:r>
              <a:rPr lang="en-US" sz="2100">
                <a:solidFill>
                  <a:srgbClr val="374151"/>
                </a:solidFill>
              </a:rPr>
              <a:t>Filter outliers using Spark quantiles</a:t>
            </a:r>
            <a:endParaRPr lang="en-US"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Feature Engineering &amp; Insights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10972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Location: latitude, longitude, city, town, district, property type encodings.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Property structure: area, log area, bedrooms, bathrooms, rooms, area per room.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Amenities: pool, gym, security, parking, garden, balcony, private pool, spa, A/C.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Listing quality: premium, verified, new construction, direct-from-developer, image count.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Expected strongest signals: location, property type, area, room structure, and amenities.</a:t>
            </a:r>
            <a:endParaRPr lang="en-US" sz="2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Spark ML Models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10972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Spark Linear Regression: distributed baseline.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Spark Decision Tree: interpretable non-linear baseline.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Spark Random Forest: selected ensemble model.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Spark Gradient-Boosted Trees: configurable but disabled by default for runtime.</a:t>
            </a:r>
            <a:endParaRPr lang="en-US" sz="2150"/>
          </a:p>
          <a:p>
            <a:pPr marL="342900" indent="-171450">
              <a:buChar char="•"/>
            </a:pPr>
            <a:r>
              <a:rPr lang="en-US" sz="2150">
                <a:solidFill>
                  <a:srgbClr val="374151"/>
                </a:solidFill>
              </a:rPr>
              <a:t>Target: log1p(price_per_sqm), transformed back for business-scale RMSE.</a:t>
            </a:r>
            <a:endParaRPr lang="en-US" sz="2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Results &amp; Evaluation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685800" y="1234440"/>
            <a:ext cx="1106424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2400">
                <a:b/>
                <a:solidFill>
                  <a:srgbClr val="1F2937"/>
                </a:solidFill>
              </a:rPr>
              <a:t>Latest completed Spark holdout results</a:t>
            </a:r>
            <a:endParaRPr lang="en-US" sz="2400"/>
          </a:p>
          <a:p>
            <a:r>
              <a:rPr lang="en-US" sz="2200">
                <a:solidFill>
                  <a:srgbClr val="1F2937"/>
                </a:solidFill>
              </a:rPr>
              <a:t>Spark Random Forest: R2 = 0.5432, RMSE = 59,584 EGP/sqm</a:t>
            </a:r>
            <a:endParaRPr lang="en-US" sz="2200"/>
          </a:p>
          <a:p>
            <a:r>
              <a:rPr lang="en-US" sz="2200">
                <a:solidFill>
                  <a:srgbClr val="1F2937"/>
                </a:solidFill>
              </a:rPr>
              <a:t>Spark Decision Tree: R2 = 0.4707, RMSE = 60,799 EGP/sqm</a:t>
            </a:r>
            <a:endParaRPr lang="en-US" sz="2200"/>
          </a:p>
          <a:p>
            <a:r>
              <a:rPr lang="en-US" sz="2200">
                <a:solidFill>
                  <a:srgbClr val="1F2937"/>
                </a:solidFill>
              </a:rPr>
              <a:t>Spark Linear Regression: R2 = 0.4540, RMSE = 64,537 EGP/sqm</a:t>
            </a:r>
            <a:endParaRPr lang="en-US" sz="2200"/>
          </a:p>
          <a:p>
            <a:pPr marL="342900" indent="-171450">
              <a:buChar char="•"/>
            </a:pPr>
            <a:r>
              <a:rPr lang="en-US" sz="2050">
                <a:solidFill>
                  <a:srgbClr val="374151"/>
                </a:solidFill>
              </a:rPr>
              <a:t>Best model selected by highest test R2.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374151"/>
                </a:solidFill>
              </a:rPr>
              <a:t>Updated code now writes train, validation, and test metrics after rerun.</a:t>
            </a:r>
            <a:endParaRPr lang="en-US" sz="2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Visualization: Target Distribution</a:t>
            </a:r>
            <a:endParaRPr lang="en-US" sz="3400"/>
          </a:p>
        </p:txBody>
      </p:sp>
      <p:pic>
        <p:nvPicPr>
          <p:cNvPr id="3" name="target_distributi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Visualization: Model Comparison</a:t>
            </a:r>
            <a:endParaRPr lang="en-US" sz="3400"/>
          </a:p>
        </p:txBody>
      </p:sp>
      <p:pic>
        <p:nvPicPr>
          <p:cNvPr id="3" name="spark_model_comparis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Visualization: Feature Importance</a:t>
            </a:r>
            <a:endParaRPr lang="en-US" sz="3400"/>
          </a:p>
        </p:txBody>
      </p:sp>
      <p:pic>
        <p:nvPicPr>
          <p:cNvPr id="3" name="spark_feature_importanc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039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Visualization: Residuals</a:t>
            </a:r>
            <a:endParaRPr lang="en-US" sz="3400"/>
          </a:p>
        </p:txBody>
      </p:sp>
      <p:pic>
        <p:nvPicPr>
          <p:cNvPr id="3" name="spark_residual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188720" y="1234440"/>
            <a:ext cx="97840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Unsuccessful Trials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10972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Local scikit-learn and XGBoost paths were removed to keep the final solution big-data focused.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Spark GBT was too slow as a default local-cluster experiment, so it remains disabled by config.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Windows Spark model saving required Hadoop winutils/HADOOP_HOME setup.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Notebook experiments were removed so the final deliverable is reusable Spark code.</a:t>
            </a:r>
            <a:endParaRPr lang="en-US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r>
              <a:rPr lang="en-US" sz="3400">
                <a:b/>
                <a:solidFill>
                  <a:srgbClr val="0F766E"/>
                </a:solidFill>
              </a:rPr>
              <a:t>Future Work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731520" y="1325880"/>
            <a:ext cx="10972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91440" rIns="91440" bIns="91440"/>
          <a:lstStyle/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Refresh reports after rerunning the train/validation/test split pipeline.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Add richer Spark aggregations by city, district, property type, and amenities.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Enable longer Spark GBT experiments on stronger hardware.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Add a business-facing prediction dashboard.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374151"/>
                </a:solidFill>
              </a:rPr>
              <a:t>Deploy on a fully distributed Spark cluster for bonus credit.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F766E"/>
      </a:accent1>
      <a:accent2>
        <a:srgbClr val="3498DB"/>
      </a:accent2>
      <a:accent3>
        <a:srgbClr val="16A085"/>
      </a:accent3>
      <a:accent4>
        <a:srgbClr val="94A3B8"/>
      </a:accent4>
      <a:accent5>
        <a:srgbClr val="E74C3C"/>
      </a:accent5>
      <a:accent6>
        <a:srgbClr val="374151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Egypt Property Prices Presentation</dc:title>
  <dc:creator>Codex</dc:creator>
  <cp:lastModifiedBy>Codex</cp:lastModifiedBy>
</cp:coreProperties>
</file>